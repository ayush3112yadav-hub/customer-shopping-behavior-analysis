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Sora SemiBold"/>
      <p:regular r:id="rId14"/>
      <p:bold r:id="rId15"/>
    </p:embeddedFont>
    <p:embeddedFont>
      <p:font typeface="Sora"/>
      <p:bold r:id="rId16"/>
    </p:embeddedFont>
    <p:embeddedFont>
      <p:font typeface="Sora Medium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raSemiBold-bold.fntdata"/><Relationship Id="rId14" Type="http://schemas.openxmlformats.org/officeDocument/2006/relationships/font" Target="fonts/SoraSemiBold-regular.fntdata"/><Relationship Id="rId17" Type="http://schemas.openxmlformats.org/officeDocument/2006/relationships/font" Target="fonts/SoraMedium-regular.fntdata"/><Relationship Id="rId16" Type="http://schemas.openxmlformats.org/officeDocument/2006/relationships/font" Target="fonts/S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ra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11100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82910" y="84832"/>
            <a:ext cx="8778180" cy="4973762"/>
          </a:xfrm>
          <a:prstGeom prst="rect">
            <a:avLst/>
          </a:prstGeom>
          <a:noFill/>
          <a:ln cap="flat" cmpd="sng" w="19050">
            <a:solidFill>
              <a:srgbClr val="C4A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1110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82910" y="84832"/>
            <a:ext cx="8778180" cy="4973762"/>
          </a:xfrm>
          <a:prstGeom prst="rect">
            <a:avLst/>
          </a:prstGeom>
          <a:noFill/>
          <a:ln cap="flat" cmpd="sng" w="14275">
            <a:solidFill>
              <a:srgbClr val="C4A15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240060" y="441573"/>
            <a:ext cx="8663806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RETAIL ANALYTICS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811560" y="1218813"/>
            <a:ext cx="7520806" cy="128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Customer Shopping Behavior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3330997" y="2726159"/>
            <a:ext cx="2481858" cy="23738"/>
          </a:xfrm>
          <a:prstGeom prst="roundRect">
            <a:avLst>
              <a:gd fmla="val 50000" name="adj"/>
            </a:avLst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1834976" y="2898800"/>
            <a:ext cx="5473973" cy="21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What 3,900 orders reveal about revenue, customers, and growth gaps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384027" y="3948261"/>
            <a:ext cx="904726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ORDERS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621060" y="4142779"/>
            <a:ext cx="24307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000"/>
              <a:buFont typeface="Sora"/>
              <a:buNone/>
            </a:pPr>
            <a:r>
              <a:rPr b="1" i="0" lang="en-US" sz="30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3,900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092104" y="3948261"/>
            <a:ext cx="95971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356595" y="4142779"/>
            <a:ext cx="24307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000"/>
              <a:buFont typeface="Sora"/>
              <a:buNone/>
            </a:pPr>
            <a:r>
              <a:rPr b="1" i="0" lang="en-US" sz="30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$233K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603504" y="3948261"/>
            <a:ext cx="140798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AVERAGE RATING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092093" y="4142779"/>
            <a:ext cx="24307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000"/>
              <a:buFont typeface="Sora"/>
              <a:buNone/>
            </a:pPr>
            <a:r>
              <a:rPr b="1" i="0" lang="en-US" sz="30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3.75 / 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01960" y="757163"/>
            <a:ext cx="8740006" cy="9525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201960" y="3554016"/>
            <a:ext cx="8740006" cy="9525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199433" y="3673078"/>
            <a:ext cx="9525" cy="1137791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934968" y="3673078"/>
            <a:ext cx="9525" cy="1137791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482947" y="1428824"/>
            <a:ext cx="846385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EXECUTIVE READOUT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82947" y="1616199"/>
            <a:ext cx="81781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3,900 orders reveal a $233K retail business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82947" y="2073846"/>
            <a:ext cx="2649810" cy="1334244"/>
          </a:xfrm>
          <a:prstGeom prst="roundRect">
            <a:avLst>
              <a:gd fmla="val 642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938957" y="2264346"/>
            <a:ext cx="1737717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AVERAGE ORDER 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54397" y="2457792"/>
            <a:ext cx="2306910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$59.76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247058" y="2073846"/>
            <a:ext cx="2649810" cy="1334244"/>
          </a:xfrm>
          <a:prstGeom prst="roundRect">
            <a:avLst>
              <a:gd fmla="val 642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3648670" y="2264346"/>
            <a:ext cx="1846511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AVERAGE REVIEW RATING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418470" y="2457792"/>
            <a:ext cx="2306910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3.75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145682" y="3082603"/>
            <a:ext cx="852562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out of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011168" y="2073846"/>
            <a:ext cx="2649885" cy="1334244"/>
          </a:xfrm>
          <a:prstGeom prst="rect">
            <a:avLst/>
          </a:prstGeom>
          <a:solidFill>
            <a:srgbClr val="B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649938" y="2245296"/>
            <a:ext cx="1372270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ANALYSIS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163568" y="2432670"/>
            <a:ext cx="2345085" cy="41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Python · SQL Server · Power BI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54347" y="3541440"/>
            <a:ext cx="86353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A compact order-level view of revenue, customers, products, promotions, and satisfaction.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3897" y="270570"/>
            <a:ext cx="84829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 MIX · CATEGORY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63897" y="457944"/>
            <a:ext cx="82162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Clothing and Accessories carry 77% of revenue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3897" y="915591"/>
            <a:ext cx="5058817" cy="2967484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47" y="1160413"/>
            <a:ext cx="4476750" cy="247776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/>
          <p:nvPr/>
        </p:nvSpPr>
        <p:spPr>
          <a:xfrm>
            <a:off x="5960790" y="1093113"/>
            <a:ext cx="250976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77%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5960790" y="1717923"/>
            <a:ext cx="250976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of revenue comes from two categories.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960790" y="2249091"/>
            <a:ext cx="828080" cy="23738"/>
          </a:xfrm>
          <a:prstGeom prst="roundRect">
            <a:avLst>
              <a:gd fmla="val 50000" name="adj"/>
            </a:avLst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960790" y="2381250"/>
            <a:ext cx="2509763" cy="133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Clothing: $104K, about 45% of revenue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Accessories: $74K, about 32%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Footwear and Outerwear contribute about 23% combined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463897" y="270570"/>
            <a:ext cx="84829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 MIX · AGE GROUP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63897" y="457944"/>
            <a:ext cx="82162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Young Adults are the clearest growth gap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463897" y="915591"/>
            <a:ext cx="5058817" cy="3390305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47" y="1419448"/>
            <a:ext cx="4476750" cy="23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5960790" y="1093113"/>
            <a:ext cx="250976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5960790" y="1717923"/>
            <a:ext cx="250976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of revenue comes from Young Adults.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5960790" y="2249091"/>
            <a:ext cx="828080" cy="23738"/>
          </a:xfrm>
          <a:prstGeom prst="roundRect">
            <a:avLst>
              <a:gd fmla="val 50000" name="adj"/>
            </a:avLst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5960790" y="2381250"/>
            <a:ext cx="2509763" cy="175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Young Adults contribute about $35K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Adult, Middle-aged, and Senior groups each contribute about $65K–$67K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571 Young Adult customers versus roughly 1,100 in each other group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254347" y="944761"/>
            <a:ext cx="86353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SUBSCRIPTION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482947" y="1132136"/>
            <a:ext cx="81781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Subscription is not lifting basket size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54347" y="1589782"/>
            <a:ext cx="8635305" cy="21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Average order values are effectively flat between subscribers and non-subscribers.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82947" y="1915492"/>
            <a:ext cx="3974753" cy="1448544"/>
          </a:xfrm>
          <a:prstGeom prst="roundRect">
            <a:avLst>
              <a:gd fmla="val 592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1543348" y="2163142"/>
            <a:ext cx="185387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SUBSCRIBED CUSTOMERS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711547" y="2356589"/>
            <a:ext cx="351755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$59.49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782068" y="2981399"/>
            <a:ext cx="1376437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average per 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4686300" y="1915492"/>
            <a:ext cx="3974753" cy="1448544"/>
          </a:xfrm>
          <a:prstGeom prst="rect">
            <a:avLst/>
          </a:prstGeom>
          <a:solidFill>
            <a:srgbClr val="B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5908774" y="2144092"/>
            <a:ext cx="1529730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NON-SUBSCRIBERS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895850" y="2337539"/>
            <a:ext cx="355565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$59.87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5985421" y="2962349"/>
            <a:ext cx="1376437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Medium"/>
                <a:ea typeface="Sora Medium"/>
                <a:cs typeface="Sora Medium"/>
                <a:sym typeface="Sora Medium"/>
              </a:rPr>
              <a:t>average per 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635347" y="3592637"/>
            <a:ext cx="378425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C4A15A"/>
                </a:solidFill>
                <a:latin typeface="Sora SemiBold"/>
                <a:ea typeface="Sora SemiBold"/>
                <a:cs typeface="Sora SemiBold"/>
                <a:sym typeface="Sora SemiBold"/>
              </a:rPr>
              <a:t>27%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571551" y="3892228"/>
            <a:ext cx="1911846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of revenue from subscribers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4724400" y="3592637"/>
            <a:ext cx="378425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Subscription participation exists, but the current benefit structure is not increasing basket size.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567238" y="3497387"/>
            <a:ext cx="9525" cy="625078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463897" y="270570"/>
            <a:ext cx="84829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 STABILITY · SEASONAL AND REGIONAL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463897" y="457944"/>
            <a:ext cx="82162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The business is steady across seasons and states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463897" y="915591"/>
            <a:ext cx="5058817" cy="2782342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47" y="1210791"/>
            <a:ext cx="4476750" cy="21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/>
          <p:nvPr/>
        </p:nvSpPr>
        <p:spPr>
          <a:xfrm>
            <a:off x="5960790" y="1093113"/>
            <a:ext cx="2509763" cy="96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$56K–$60K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5960790" y="2197968"/>
            <a:ext cx="2719313" cy="21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seasonal revenue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5960790" y="2517725"/>
            <a:ext cx="828080" cy="23738"/>
          </a:xfrm>
          <a:prstGeom prst="roundRect">
            <a:avLst>
              <a:gd fmla="val 50000" name="adj"/>
            </a:avLst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5960790" y="2649885"/>
            <a:ext cx="2509763" cy="8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Top states range narrowly from about $5.2K to $5.8K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Char char="•"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No clear seasonal or regional campaign winner emerges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/>
          <p:nvPr/>
        </p:nvSpPr>
        <p:spPr>
          <a:xfrm>
            <a:off x="254347" y="1078929"/>
            <a:ext cx="86353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PROMOTION AND SATISFACTION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482947" y="1266304"/>
            <a:ext cx="81781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Discounts are common, while ratings remain middling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482947" y="1723951"/>
            <a:ext cx="3974753" cy="1372344"/>
          </a:xfrm>
          <a:prstGeom prst="rect">
            <a:avLst/>
          </a:prstGeom>
          <a:solidFill>
            <a:srgbClr val="B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1518568" y="1914451"/>
            <a:ext cx="1903512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DISCOUNT OR PROMO USE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673447" y="2107897"/>
            <a:ext cx="359375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1,677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1528390" y="2732708"/>
            <a:ext cx="1883792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Medium"/>
                <a:ea typeface="Sora Medium"/>
                <a:cs typeface="Sora Medium"/>
                <a:sym typeface="Sora Medium"/>
              </a:rPr>
              <a:t>of 3,900 orders · about 43%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4686300" y="1723951"/>
            <a:ext cx="3974753" cy="1372344"/>
          </a:xfrm>
          <a:prstGeom prst="roundRect">
            <a:avLst>
              <a:gd fmla="val 625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5750421" y="1933501"/>
            <a:ext cx="1846511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AVERAGE REVIEW RATING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4895850" y="2126947"/>
            <a:ext cx="3555653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4A15A"/>
              </a:buClr>
              <a:buSzPts val="3600"/>
              <a:buFont typeface="Sora"/>
              <a:buNone/>
            </a:pPr>
            <a:r>
              <a:rPr b="1" i="0" lang="en-US" sz="3600" u="none" cap="none" strike="noStrike">
                <a:solidFill>
                  <a:srgbClr val="C4A15A"/>
                </a:solidFill>
                <a:latin typeface="Sora"/>
                <a:ea typeface="Sora"/>
                <a:cs typeface="Sora"/>
                <a:sym typeface="Sora"/>
              </a:rPr>
              <a:t>3.75 / 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5476131" y="2751758"/>
            <a:ext cx="2395091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customer feedback remains middling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654397" y="3362995"/>
            <a:ext cx="7835205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Before expanding promotions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654397" y="3662586"/>
            <a:ext cx="8006655" cy="21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Compare discounted and full-price order values.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463897" y="270570"/>
            <a:ext cx="84829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ACTION FRAMEWORK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463897" y="457944"/>
            <a:ext cx="8216205" cy="6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Recommendations: focus where the evidence is strongest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635347" y="1399431"/>
            <a:ext cx="295870" cy="250031"/>
          </a:xfrm>
          <a:prstGeom prst="roundRect">
            <a:avLst>
              <a:gd fmla="val 3429" name="adj"/>
            </a:avLst>
          </a:prstGeom>
          <a:solidFill>
            <a:srgbClr val="11100F"/>
          </a:solidFill>
          <a:ln cap="flat" cmpd="sng" w="9525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711547" y="1463725"/>
            <a:ext cx="60067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Sora SemiBold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635347" y="1924422"/>
            <a:ext cx="376520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Protect the core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635347" y="2224013"/>
            <a:ext cx="376520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Protect Clothing and Accessories with stock depth, bundles, and focused promotions.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4572000" y="1247031"/>
            <a:ext cx="4108103" cy="1774775"/>
          </a:xfrm>
          <a:custGeom>
            <a:rect b="b" l="l" r="r" t="t"/>
            <a:pathLst>
              <a:path extrusionOk="0" h="1774775" w="4108103">
                <a:moveTo>
                  <a:pt x="0" y="0"/>
                </a:moveTo>
                <a:lnTo>
                  <a:pt x="4100959" y="0"/>
                </a:lnTo>
                <a:cubicBezTo>
                  <a:pt x="4102854" y="0"/>
                  <a:pt x="4104671" y="753"/>
                  <a:pt x="4106011" y="2092"/>
                </a:cubicBezTo>
                <a:cubicBezTo>
                  <a:pt x="4107350" y="3432"/>
                  <a:pt x="4108103" y="5249"/>
                  <a:pt x="4108103" y="7144"/>
                </a:cubicBezTo>
                <a:lnTo>
                  <a:pt x="4108103" y="1774775"/>
                </a:lnTo>
                <a:lnTo>
                  <a:pt x="0" y="1774775"/>
                </a:lnTo>
                <a:lnTo>
                  <a:pt x="0" y="0"/>
                </a:lnTo>
                <a:close/>
              </a:path>
            </a:pathLst>
          </a:custGeom>
          <a:solidFill>
            <a:srgbClr val="B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4743450" y="1399431"/>
            <a:ext cx="320427" cy="250031"/>
          </a:xfrm>
          <a:prstGeom prst="roundRect">
            <a:avLst>
              <a:gd fmla="val 3429" name="adj"/>
            </a:avLst>
          </a:prstGeom>
          <a:solidFill>
            <a:srgbClr val="11100F"/>
          </a:solidFill>
          <a:ln cap="flat" cmpd="sng" w="9525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4819650" y="1463725"/>
            <a:ext cx="625227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Sora SemiBold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4743450" y="2030090"/>
            <a:ext cx="376520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Test Young Adults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4743450" y="2329681"/>
            <a:ext cx="3936653" cy="21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Build a targeted growth test for 18–25-year-olds.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635347" y="3174206"/>
            <a:ext cx="320278" cy="250031"/>
          </a:xfrm>
          <a:prstGeom prst="roundRect">
            <a:avLst>
              <a:gd fmla="val 3429" name="adj"/>
            </a:avLst>
          </a:prstGeom>
          <a:solidFill>
            <a:srgbClr val="11100F"/>
          </a:solidFill>
          <a:ln cap="flat" cmpd="sng" w="9525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711547" y="3238500"/>
            <a:ext cx="62507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Sora SemiBold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35347" y="3699197"/>
            <a:ext cx="376520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Rework subscription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35347" y="3998788"/>
            <a:ext cx="376520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Rework subscription benefits to raise basket size or purchase frequency.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743450" y="3174206"/>
            <a:ext cx="324669" cy="250031"/>
          </a:xfrm>
          <a:prstGeom prst="roundRect">
            <a:avLst>
              <a:gd fmla="val 3429" name="adj"/>
            </a:avLst>
          </a:prstGeom>
          <a:solidFill>
            <a:srgbClr val="11100F"/>
          </a:solidFill>
          <a:ln cap="flat" cmpd="sng" w="9525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4819650" y="3238500"/>
            <a:ext cx="62946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Sora SemiBold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743450" y="3699197"/>
            <a:ext cx="376520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Keep campaigns national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743450" y="3998788"/>
            <a:ext cx="376520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Keep national campaigns as the default until stronger regional or seasonal signals appear.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567238" y="1247031"/>
            <a:ext cx="9525" cy="1774775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463897" y="3017044"/>
            <a:ext cx="4108103" cy="9525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4567238" y="3021806"/>
            <a:ext cx="9525" cy="177485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4572000" y="3017044"/>
            <a:ext cx="4108103" cy="9525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/>
          <p:nvPr/>
        </p:nvSpPr>
        <p:spPr>
          <a:xfrm>
            <a:off x="254347" y="1098277"/>
            <a:ext cx="8635305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READING THE EVIDENCE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82910" y="1285652"/>
            <a:ext cx="817810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What the analysis can and cannot answer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82947" y="1743298"/>
            <a:ext cx="3974753" cy="1290786"/>
          </a:xfrm>
          <a:prstGeom prst="rect">
            <a:avLst/>
          </a:prstGeom>
          <a:solidFill>
            <a:srgbClr val="B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54397" y="1914748"/>
            <a:ext cx="3803303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CAN SHOW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54397" y="2102123"/>
            <a:ext cx="363185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Where revenue is concentrated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654397" y="2401714"/>
            <a:ext cx="363185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Category mix, age-group revenue, subscription share, promotion use, ratings, seasons, and states.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686300" y="1743298"/>
            <a:ext cx="3974753" cy="1290786"/>
          </a:xfrm>
          <a:prstGeom prst="roundRect">
            <a:avLst>
              <a:gd fmla="val 664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4876800" y="1933798"/>
            <a:ext cx="3784253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SemiBold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CANNOT SHOW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4876800" y="2121173"/>
            <a:ext cx="3593753" cy="20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350"/>
              <a:buFont typeface="Sora SemiBold"/>
              <a:buNone/>
            </a:pPr>
            <a:r>
              <a:rPr b="0" i="0" lang="en-US" sz="13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How behavior changes over 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876800" y="2420764"/>
            <a:ext cx="3593753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"/>
                <a:ea typeface="Sora"/>
                <a:cs typeface="Sora"/>
                <a:sym typeface="Sora"/>
              </a:rPr>
              <a:t>The data has no dates, so it cannot show trends over time or repeat-purchase behavior.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82947" y="3167435"/>
            <a:ext cx="2649810" cy="801439"/>
          </a:xfrm>
          <a:prstGeom prst="roundRect">
            <a:avLst>
              <a:gd fmla="val 1070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635347" y="3300785"/>
            <a:ext cx="2345010" cy="17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 SemiBold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Young Adult context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635347" y="3565550"/>
            <a:ext cx="2345010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Young Adult revenue is partly affected by the group’s smaller customer count.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247058" y="3167435"/>
            <a:ext cx="2649810" cy="801439"/>
          </a:xfrm>
          <a:prstGeom prst="roundRect">
            <a:avLst>
              <a:gd fmla="val 1070" name="adj"/>
            </a:avLst>
          </a:prstGeom>
          <a:noFill/>
          <a:ln cap="flat" cmpd="sng" w="19050">
            <a:solidFill>
              <a:srgbClr val="4948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3399458" y="3300785"/>
            <a:ext cx="2345010" cy="17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1150"/>
              <a:buFont typeface="Sora SemiBold"/>
              <a:buNone/>
            </a:pPr>
            <a:r>
              <a:rPr b="0" i="0" lang="en-US" sz="1150" u="none" cap="none" strike="noStrike">
                <a:solidFill>
                  <a:srgbClr val="F3EBDD"/>
                </a:solidFill>
                <a:latin typeface="Sora SemiBold"/>
                <a:ea typeface="Sora SemiBold"/>
                <a:cs typeface="Sora SemiBold"/>
                <a:sym typeface="Sora SemiBold"/>
              </a:rPr>
              <a:t>State context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399458" y="3565550"/>
            <a:ext cx="2345010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3EBDD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F3EBDD"/>
                </a:solidFill>
                <a:latin typeface="Sora Medium"/>
                <a:ea typeface="Sora Medium"/>
                <a:cs typeface="Sora Medium"/>
                <a:sym typeface="Sora Medium"/>
              </a:rPr>
              <a:t>State differences may be noise because revenue per state is only about $5K–$6K.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011168" y="3167435"/>
            <a:ext cx="2649885" cy="801439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6144518" y="3281735"/>
            <a:ext cx="2383185" cy="17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Sora SemiBold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Sora SemiBold"/>
                <a:ea typeface="Sora SemiBold"/>
                <a:cs typeface="Sora SemiBold"/>
                <a:sym typeface="Sora SemiBold"/>
              </a:rPr>
              <a:t>Use the findings carefully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6144518" y="3546500"/>
            <a:ext cx="2383185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ra Medium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Sora Medium"/>
                <a:ea typeface="Sora Medium"/>
                <a:cs typeface="Sora Medium"/>
                <a:sym typeface="Sora Medium"/>
              </a:rPr>
              <a:t>The strongest signals are category concentration and the Young Adult gap.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